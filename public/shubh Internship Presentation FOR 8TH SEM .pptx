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4630400" cy="8229600"/>
  <p:notesSz cx="14630400" cy="8229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002C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822959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F3F3FF">
              <a:alpha val="749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002C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002C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002C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4630400" cy="82295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38398" y="669417"/>
            <a:ext cx="9426575" cy="909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002C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222500" y="1981200"/>
            <a:ext cx="11439525" cy="5049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8229598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0" y="-53"/>
            <a:ext cx="14630400" cy="8224520"/>
          </a:xfrm>
          <a:custGeom>
            <a:avLst/>
            <a:gdLst/>
            <a:ahLst/>
            <a:cxnLst/>
            <a:rect l="l" t="t" r="r" b="b"/>
            <a:pathLst>
              <a:path w="14630400" h="8224520">
                <a:moveTo>
                  <a:pt x="14630400" y="0"/>
                </a:moveTo>
                <a:lnTo>
                  <a:pt x="0" y="0"/>
                </a:lnTo>
                <a:lnTo>
                  <a:pt x="0" y="8224520"/>
                </a:lnTo>
                <a:lnTo>
                  <a:pt x="14630400" y="8224520"/>
                </a:lnTo>
                <a:lnTo>
                  <a:pt x="14630400" y="0"/>
                </a:lnTo>
                <a:close/>
              </a:path>
            </a:pathLst>
          </a:custGeom>
          <a:solidFill>
            <a:srgbClr val="F3F3FF">
              <a:alpha val="74900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5526024" cy="822959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769732" y="2377014"/>
            <a:ext cx="4718685" cy="170878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 marR="5080" indent="514984">
              <a:lnSpc>
                <a:spcPct val="114999"/>
              </a:lnSpc>
              <a:spcBef>
                <a:spcPts val="105"/>
              </a:spcBef>
            </a:pPr>
            <a:r>
              <a:rPr dirty="0" spc="-10"/>
              <a:t>INTERNSHIP </a:t>
            </a:r>
            <a:r>
              <a:rPr dirty="0" spc="-65"/>
              <a:t>PRESENTATION</a:t>
            </a:r>
          </a:p>
        </p:txBody>
      </p:sp>
      <p:sp>
        <p:nvSpPr>
          <p:cNvPr id="6" name="object 6" descr=""/>
          <p:cNvSpPr/>
          <p:nvPr/>
        </p:nvSpPr>
        <p:spPr>
          <a:xfrm>
            <a:off x="6320790" y="5595365"/>
            <a:ext cx="354965" cy="356870"/>
          </a:xfrm>
          <a:custGeom>
            <a:avLst/>
            <a:gdLst/>
            <a:ahLst/>
            <a:cxnLst/>
            <a:rect l="l" t="t" r="r" b="b"/>
            <a:pathLst>
              <a:path w="354965" h="356870">
                <a:moveTo>
                  <a:pt x="0" y="178180"/>
                </a:moveTo>
                <a:lnTo>
                  <a:pt x="6350" y="130809"/>
                </a:lnTo>
                <a:lnTo>
                  <a:pt x="24257" y="88264"/>
                </a:lnTo>
                <a:lnTo>
                  <a:pt x="51943" y="52196"/>
                </a:lnTo>
                <a:lnTo>
                  <a:pt x="87884" y="24383"/>
                </a:lnTo>
                <a:lnTo>
                  <a:pt x="130175" y="6349"/>
                </a:lnTo>
                <a:lnTo>
                  <a:pt x="177419" y="0"/>
                </a:lnTo>
                <a:lnTo>
                  <a:pt x="224662" y="6349"/>
                </a:lnTo>
                <a:lnTo>
                  <a:pt x="266954" y="24383"/>
                </a:lnTo>
                <a:lnTo>
                  <a:pt x="302894" y="52196"/>
                </a:lnTo>
                <a:lnTo>
                  <a:pt x="330581" y="88264"/>
                </a:lnTo>
                <a:lnTo>
                  <a:pt x="348488" y="130809"/>
                </a:lnTo>
                <a:lnTo>
                  <a:pt x="354838" y="178180"/>
                </a:lnTo>
                <a:lnTo>
                  <a:pt x="348488" y="225551"/>
                </a:lnTo>
                <a:lnTo>
                  <a:pt x="330581" y="268096"/>
                </a:lnTo>
                <a:lnTo>
                  <a:pt x="302894" y="304164"/>
                </a:lnTo>
                <a:lnTo>
                  <a:pt x="266954" y="332104"/>
                </a:lnTo>
                <a:lnTo>
                  <a:pt x="224662" y="350011"/>
                </a:lnTo>
                <a:lnTo>
                  <a:pt x="177419" y="356361"/>
                </a:lnTo>
                <a:lnTo>
                  <a:pt x="130175" y="350011"/>
                </a:lnTo>
                <a:lnTo>
                  <a:pt x="87884" y="332104"/>
                </a:lnTo>
                <a:lnTo>
                  <a:pt x="51943" y="304164"/>
                </a:lnTo>
                <a:lnTo>
                  <a:pt x="24257" y="268096"/>
                </a:lnTo>
                <a:lnTo>
                  <a:pt x="6350" y="225551"/>
                </a:lnTo>
                <a:lnTo>
                  <a:pt x="0" y="178180"/>
                </a:lnTo>
                <a:close/>
              </a:path>
            </a:pathLst>
          </a:custGeom>
          <a:ln w="762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60919" y="533400"/>
            <a:ext cx="5539739" cy="800100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8166100" y="5079491"/>
            <a:ext cx="4241165" cy="1054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78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00002C"/>
                </a:solidFill>
                <a:latin typeface="Arial"/>
                <a:cs typeface="Arial"/>
              </a:rPr>
              <a:t>PRESENTED</a:t>
            </a:r>
            <a:r>
              <a:rPr dirty="0" sz="2000" spc="-45" b="1">
                <a:solidFill>
                  <a:srgbClr val="00002C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00002C"/>
                </a:solidFill>
                <a:latin typeface="Arial"/>
                <a:cs typeface="Arial"/>
              </a:rPr>
              <a:t>BY:</a:t>
            </a:r>
            <a:r>
              <a:rPr dirty="0" sz="2000" spc="-40" b="1">
                <a:solidFill>
                  <a:srgbClr val="00002C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00002C"/>
                </a:solidFill>
                <a:latin typeface="Arial"/>
                <a:cs typeface="Arial"/>
              </a:rPr>
              <a:t>Manish</a:t>
            </a:r>
            <a:r>
              <a:rPr dirty="0" sz="2000" spc="-40" b="1">
                <a:solidFill>
                  <a:srgbClr val="00002C"/>
                </a:solidFill>
                <a:latin typeface="Arial"/>
                <a:cs typeface="Arial"/>
              </a:rPr>
              <a:t> </a:t>
            </a:r>
            <a:r>
              <a:rPr dirty="0" sz="2000" spc="-20" b="1">
                <a:solidFill>
                  <a:srgbClr val="00002C"/>
                </a:solidFill>
                <a:latin typeface="Arial"/>
                <a:cs typeface="Arial"/>
              </a:rPr>
              <a:t>Rana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 b="1">
                <a:solidFill>
                  <a:srgbClr val="00002C"/>
                </a:solidFill>
                <a:latin typeface="Arial"/>
                <a:cs typeface="Arial"/>
              </a:rPr>
              <a:t>ENROLLMENTNO.: </a:t>
            </a:r>
            <a:r>
              <a:rPr dirty="0" sz="2000" spc="-10" b="1">
                <a:solidFill>
                  <a:srgbClr val="00002C"/>
                </a:solidFill>
                <a:latin typeface="Arial"/>
                <a:cs typeface="Arial"/>
              </a:rPr>
              <a:t>2203051050730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251200">
              <a:lnSpc>
                <a:spcPct val="100000"/>
              </a:lnSpc>
              <a:spcBef>
                <a:spcPts val="100"/>
              </a:spcBef>
            </a:pPr>
            <a:r>
              <a:rPr dirty="0" spc="-35"/>
              <a:t>OUTLINE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6189345" y="1355471"/>
            <a:ext cx="2642870" cy="64135"/>
          </a:xfrm>
          <a:custGeom>
            <a:avLst/>
            <a:gdLst/>
            <a:ahLst/>
            <a:cxnLst/>
            <a:rect l="l" t="t" r="r" b="b"/>
            <a:pathLst>
              <a:path w="2642870" h="64134">
                <a:moveTo>
                  <a:pt x="2642615" y="0"/>
                </a:moveTo>
                <a:lnTo>
                  <a:pt x="0" y="0"/>
                </a:lnTo>
                <a:lnTo>
                  <a:pt x="0" y="64007"/>
                </a:lnTo>
                <a:lnTo>
                  <a:pt x="2642615" y="64007"/>
                </a:lnTo>
                <a:lnTo>
                  <a:pt x="2642615" y="0"/>
                </a:lnTo>
                <a:close/>
              </a:path>
            </a:pathLst>
          </a:custGeom>
          <a:solidFill>
            <a:srgbClr val="0000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2233041" y="1988906"/>
            <a:ext cx="4018279" cy="4918075"/>
          </a:xfrm>
          <a:prstGeom prst="rect">
            <a:avLst/>
          </a:prstGeom>
        </p:spPr>
        <p:txBody>
          <a:bodyPr wrap="square" lIns="0" tIns="189865" rIns="0" bIns="0" rtlCol="0" vert="horz">
            <a:spAutoFit/>
          </a:bodyPr>
          <a:lstStyle/>
          <a:p>
            <a:pPr marL="362585" indent="-349885">
              <a:lnSpc>
                <a:spcPct val="100000"/>
              </a:lnSpc>
              <a:spcBef>
                <a:spcPts val="1495"/>
              </a:spcBef>
              <a:buFont typeface="Wingdings"/>
              <a:buChar char=""/>
              <a:tabLst>
                <a:tab pos="362585" algn="l"/>
              </a:tabLst>
            </a:pPr>
            <a:r>
              <a:rPr dirty="0" sz="2400" spc="-10">
                <a:latin typeface="Arial MT"/>
                <a:cs typeface="Arial MT"/>
              </a:rPr>
              <a:t>Introduction</a:t>
            </a:r>
            <a:endParaRPr sz="2400">
              <a:latin typeface="Arial MT"/>
              <a:cs typeface="Arial MT"/>
            </a:endParaRPr>
          </a:p>
          <a:p>
            <a:pPr marL="362585" indent="-349885">
              <a:lnSpc>
                <a:spcPct val="100000"/>
              </a:lnSpc>
              <a:spcBef>
                <a:spcPts val="1395"/>
              </a:spcBef>
              <a:buFont typeface="Wingdings"/>
              <a:buChar char=""/>
              <a:tabLst>
                <a:tab pos="362585" algn="l"/>
              </a:tabLst>
            </a:pPr>
            <a:r>
              <a:rPr dirty="0" sz="2400">
                <a:latin typeface="Arial MT"/>
                <a:cs typeface="Arial MT"/>
              </a:rPr>
              <a:t>Offer</a:t>
            </a:r>
            <a:r>
              <a:rPr dirty="0" sz="2400" spc="15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Letter</a:t>
            </a:r>
            <a:endParaRPr sz="2400">
              <a:latin typeface="Arial MT"/>
              <a:cs typeface="Arial MT"/>
            </a:endParaRPr>
          </a:p>
          <a:p>
            <a:pPr marL="362585" indent="-349885">
              <a:lnSpc>
                <a:spcPct val="100000"/>
              </a:lnSpc>
              <a:spcBef>
                <a:spcPts val="1405"/>
              </a:spcBef>
              <a:buFont typeface="Wingdings"/>
              <a:buChar char=""/>
              <a:tabLst>
                <a:tab pos="362585" algn="l"/>
              </a:tabLst>
            </a:pPr>
            <a:r>
              <a:rPr dirty="0" sz="2400" spc="-25">
                <a:latin typeface="Arial MT"/>
                <a:cs typeface="Arial MT"/>
              </a:rPr>
              <a:t>NOC</a:t>
            </a:r>
            <a:endParaRPr sz="2400">
              <a:latin typeface="Arial MT"/>
              <a:cs typeface="Arial MT"/>
            </a:endParaRPr>
          </a:p>
          <a:p>
            <a:pPr marL="362585" indent="-349885">
              <a:lnSpc>
                <a:spcPct val="100000"/>
              </a:lnSpc>
              <a:spcBef>
                <a:spcPts val="1405"/>
              </a:spcBef>
              <a:buFont typeface="Wingdings"/>
              <a:buChar char=""/>
              <a:tabLst>
                <a:tab pos="362585" algn="l"/>
              </a:tabLst>
            </a:pPr>
            <a:r>
              <a:rPr dirty="0" sz="2400">
                <a:latin typeface="Arial MT"/>
                <a:cs typeface="Arial MT"/>
              </a:rPr>
              <a:t>Completion</a:t>
            </a:r>
            <a:r>
              <a:rPr dirty="0" sz="2400" spc="9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Certificate</a:t>
            </a:r>
            <a:endParaRPr sz="2400">
              <a:latin typeface="Arial MT"/>
              <a:cs typeface="Arial MT"/>
            </a:endParaRPr>
          </a:p>
          <a:p>
            <a:pPr marL="362585" indent="-349885">
              <a:lnSpc>
                <a:spcPct val="100000"/>
              </a:lnSpc>
              <a:spcBef>
                <a:spcPts val="1390"/>
              </a:spcBef>
              <a:buFont typeface="Wingdings"/>
              <a:buChar char=""/>
              <a:tabLst>
                <a:tab pos="362585" algn="l"/>
              </a:tabLst>
            </a:pPr>
            <a:r>
              <a:rPr dirty="0" sz="2400">
                <a:latin typeface="Arial MT"/>
                <a:cs typeface="Arial MT"/>
              </a:rPr>
              <a:t>Flow</a:t>
            </a:r>
            <a:r>
              <a:rPr dirty="0" sz="2400" spc="1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5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Internship</a:t>
            </a:r>
            <a:endParaRPr sz="2400">
              <a:latin typeface="Arial MT"/>
              <a:cs typeface="Arial MT"/>
            </a:endParaRPr>
          </a:p>
          <a:p>
            <a:pPr marL="362585" indent="-349885">
              <a:lnSpc>
                <a:spcPct val="100000"/>
              </a:lnSpc>
              <a:spcBef>
                <a:spcPts val="1405"/>
              </a:spcBef>
              <a:buFont typeface="Wingdings"/>
              <a:buChar char=""/>
              <a:tabLst>
                <a:tab pos="362585" algn="l"/>
              </a:tabLst>
            </a:pPr>
            <a:r>
              <a:rPr dirty="0" sz="2400">
                <a:latin typeface="Arial MT"/>
                <a:cs typeface="Arial MT"/>
              </a:rPr>
              <a:t>Project</a:t>
            </a:r>
            <a:r>
              <a:rPr dirty="0" sz="2400" spc="-114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Details</a:t>
            </a:r>
            <a:endParaRPr sz="2400">
              <a:latin typeface="Arial MT"/>
              <a:cs typeface="Arial MT"/>
            </a:endParaRPr>
          </a:p>
          <a:p>
            <a:pPr marL="362585" indent="-349885">
              <a:lnSpc>
                <a:spcPct val="100000"/>
              </a:lnSpc>
              <a:spcBef>
                <a:spcPts val="1405"/>
              </a:spcBef>
              <a:buFont typeface="Wingdings"/>
              <a:buChar char=""/>
              <a:tabLst>
                <a:tab pos="362585" algn="l"/>
                <a:tab pos="2579370" algn="l"/>
              </a:tabLst>
            </a:pPr>
            <a:r>
              <a:rPr dirty="0" sz="2400" spc="-10">
                <a:latin typeface="Arial MT"/>
                <a:cs typeface="Arial MT"/>
              </a:rPr>
              <a:t>Implementation</a:t>
            </a:r>
            <a:r>
              <a:rPr dirty="0" sz="2400">
                <a:latin typeface="Arial MT"/>
                <a:cs typeface="Arial MT"/>
              </a:rPr>
              <a:t>	</a:t>
            </a:r>
            <a:r>
              <a:rPr dirty="0" sz="2400" spc="-10">
                <a:latin typeface="Arial MT"/>
                <a:cs typeface="Arial MT"/>
              </a:rPr>
              <a:t>Snapshots</a:t>
            </a:r>
            <a:endParaRPr sz="2400">
              <a:latin typeface="Arial MT"/>
              <a:cs typeface="Arial MT"/>
            </a:endParaRPr>
          </a:p>
          <a:p>
            <a:pPr marL="362585" indent="-349885">
              <a:lnSpc>
                <a:spcPct val="100000"/>
              </a:lnSpc>
              <a:spcBef>
                <a:spcPts val="1395"/>
              </a:spcBef>
              <a:buFont typeface="Wingdings"/>
              <a:buChar char=""/>
              <a:tabLst>
                <a:tab pos="362585" algn="l"/>
              </a:tabLst>
            </a:pPr>
            <a:r>
              <a:rPr dirty="0" sz="2400" spc="-10">
                <a:latin typeface="Arial MT"/>
                <a:cs typeface="Arial MT"/>
              </a:rPr>
              <a:t>Conclusion</a:t>
            </a:r>
            <a:endParaRPr sz="2400">
              <a:latin typeface="Arial MT"/>
              <a:cs typeface="Arial MT"/>
            </a:endParaRPr>
          </a:p>
          <a:p>
            <a:pPr marL="362585" indent="-349885">
              <a:lnSpc>
                <a:spcPct val="100000"/>
              </a:lnSpc>
              <a:spcBef>
                <a:spcPts val="1405"/>
              </a:spcBef>
              <a:buFont typeface="Wingdings"/>
              <a:buChar char=""/>
              <a:tabLst>
                <a:tab pos="362585" algn="l"/>
              </a:tabLst>
            </a:pPr>
            <a:r>
              <a:rPr dirty="0" sz="2400" spc="-10">
                <a:latin typeface="Arial MT"/>
                <a:cs typeface="Arial MT"/>
              </a:rPr>
              <a:t>References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39309" y="669417"/>
            <a:ext cx="468185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INTRODUCTION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5151501" y="1355471"/>
            <a:ext cx="4654550" cy="64135"/>
          </a:xfrm>
          <a:custGeom>
            <a:avLst/>
            <a:gdLst/>
            <a:ahLst/>
            <a:cxnLst/>
            <a:rect l="l" t="t" r="r" b="b"/>
            <a:pathLst>
              <a:path w="4654550" h="64134">
                <a:moveTo>
                  <a:pt x="4654296" y="0"/>
                </a:moveTo>
                <a:lnTo>
                  <a:pt x="0" y="0"/>
                </a:lnTo>
                <a:lnTo>
                  <a:pt x="0" y="64007"/>
                </a:lnTo>
                <a:lnTo>
                  <a:pt x="4654296" y="64007"/>
                </a:lnTo>
                <a:lnTo>
                  <a:pt x="4654296" y="0"/>
                </a:lnTo>
                <a:close/>
              </a:path>
            </a:pathLst>
          </a:custGeom>
          <a:solidFill>
            <a:srgbClr val="0000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2121296" y="1727200"/>
            <a:ext cx="10967085" cy="985519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12700" marR="285115">
              <a:lnSpc>
                <a:spcPts val="1800"/>
              </a:lnSpc>
              <a:spcBef>
                <a:spcPts val="459"/>
              </a:spcBef>
            </a:pPr>
            <a:r>
              <a:rPr dirty="0" sz="1800">
                <a:latin typeface="Arial MT"/>
                <a:cs typeface="Arial MT"/>
              </a:rPr>
              <a:t>My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name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is Manish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Rana, and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 am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currently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pursuing my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final year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 Computer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Science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from </a:t>
            </a:r>
            <a:r>
              <a:rPr dirty="0" sz="1800" spc="-10">
                <a:latin typeface="Arial MT"/>
                <a:cs typeface="Arial MT"/>
              </a:rPr>
              <a:t>Parul </a:t>
            </a:r>
            <a:r>
              <a:rPr dirty="0" sz="1800">
                <a:latin typeface="Arial MT"/>
                <a:cs typeface="Arial MT"/>
              </a:rPr>
              <a:t>University. I worked as a Java Full Stack at Spring Boot, where I gained practical experience </a:t>
            </a:r>
            <a:r>
              <a:rPr dirty="0" sz="1800" spc="-25">
                <a:latin typeface="Arial MT"/>
                <a:cs typeface="Arial MT"/>
              </a:rPr>
              <a:t>in </a:t>
            </a:r>
            <a:r>
              <a:rPr dirty="0" sz="1800">
                <a:latin typeface="Arial MT"/>
                <a:cs typeface="Arial MT"/>
              </a:rPr>
              <a:t>developing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real-world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applications.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During my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internship,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my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technical focus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was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on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building scalable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and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ts val="1800"/>
              </a:lnSpc>
            </a:pPr>
            <a:r>
              <a:rPr dirty="0" sz="1800">
                <a:latin typeface="Arial MT"/>
                <a:cs typeface="Arial MT"/>
              </a:rPr>
              <a:t>responsive web applications using modern technologies such as the using Java, Spring Boot, and OpenCV </a:t>
            </a:r>
            <a:r>
              <a:rPr dirty="0" sz="1800" spc="-5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071100" y="3263646"/>
            <a:ext cx="390588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 MT"/>
                <a:cs typeface="Arial MT"/>
              </a:rPr>
              <a:t>Enrollment Number – </a:t>
            </a:r>
            <a:r>
              <a:rPr dirty="0" sz="1800" spc="-10">
                <a:latin typeface="Arial MT"/>
                <a:cs typeface="Arial MT"/>
              </a:rPr>
              <a:t>2203051050730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803400" y="3251200"/>
            <a:ext cx="20459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 MT"/>
                <a:cs typeface="Arial MT"/>
              </a:rPr>
              <a:t>Company: </a:t>
            </a:r>
            <a:r>
              <a:rPr dirty="0" sz="1800" spc="-10">
                <a:latin typeface="Arial MT"/>
                <a:cs typeface="Arial MT"/>
              </a:rPr>
              <a:t>Qspiders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803400" y="3721100"/>
            <a:ext cx="3647440" cy="1633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 MT"/>
                <a:cs typeface="Arial MT"/>
              </a:rPr>
              <a:t>Location: </a:t>
            </a:r>
            <a:r>
              <a:rPr dirty="0" sz="1800" spc="-10">
                <a:latin typeface="Arial MT"/>
                <a:cs typeface="Arial MT"/>
              </a:rPr>
              <a:t>Ahmdabad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1800">
                <a:latin typeface="Arial MT"/>
                <a:cs typeface="Arial MT"/>
              </a:rPr>
              <a:t>Role: Java </a:t>
            </a:r>
            <a:r>
              <a:rPr dirty="0" sz="1800" spc="-10">
                <a:latin typeface="Arial MT"/>
                <a:cs typeface="Arial MT"/>
              </a:rPr>
              <a:t>Developer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dirty="0" sz="1800">
                <a:latin typeface="Arial MT"/>
                <a:cs typeface="Arial MT"/>
              </a:rPr>
              <a:t>Training Starting Date: 2 Jan </a:t>
            </a:r>
            <a:r>
              <a:rPr dirty="0" sz="1800" spc="-20">
                <a:latin typeface="Arial MT"/>
                <a:cs typeface="Arial MT"/>
              </a:rPr>
              <a:t>2026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dirty="0" sz="1800">
                <a:latin typeface="Arial MT"/>
                <a:cs typeface="Arial MT"/>
              </a:rPr>
              <a:t>Training Ending Date: 10 April </a:t>
            </a:r>
            <a:r>
              <a:rPr dirty="0" sz="1800" spc="-20">
                <a:latin typeface="Arial MT"/>
                <a:cs typeface="Arial MT"/>
              </a:rPr>
              <a:t>2026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39309" y="669417"/>
            <a:ext cx="468185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INTRODUCTION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5151501" y="1355471"/>
            <a:ext cx="4654550" cy="64135"/>
          </a:xfrm>
          <a:custGeom>
            <a:avLst/>
            <a:gdLst/>
            <a:ahLst/>
            <a:cxnLst/>
            <a:rect l="l" t="t" r="r" b="b"/>
            <a:pathLst>
              <a:path w="4654550" h="64134">
                <a:moveTo>
                  <a:pt x="4654296" y="0"/>
                </a:moveTo>
                <a:lnTo>
                  <a:pt x="0" y="0"/>
                </a:lnTo>
                <a:lnTo>
                  <a:pt x="0" y="64007"/>
                </a:lnTo>
                <a:lnTo>
                  <a:pt x="4654296" y="64007"/>
                </a:lnTo>
                <a:lnTo>
                  <a:pt x="4654296" y="0"/>
                </a:lnTo>
                <a:close/>
              </a:path>
            </a:pathLst>
          </a:custGeom>
          <a:solidFill>
            <a:srgbClr val="0000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803400" y="1943100"/>
            <a:ext cx="12656185" cy="5328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 MT"/>
                <a:cs typeface="Arial MT"/>
              </a:rPr>
              <a:t>Attendance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management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is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fundamental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activity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educational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institutions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organizations.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It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is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used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10">
                <a:latin typeface="Arial MT"/>
                <a:cs typeface="Arial MT"/>
              </a:rPr>
              <a:t> track</a:t>
            </a:r>
            <a:endParaRPr sz="1800">
              <a:latin typeface="Arial MT"/>
              <a:cs typeface="Arial MT"/>
            </a:endParaRPr>
          </a:p>
          <a:p>
            <a:pPr marL="12700" marR="487045">
              <a:lnSpc>
                <a:spcPct val="166700"/>
              </a:lnSpc>
            </a:pP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presence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students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or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employees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plays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important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role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academic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evaluation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organizational</a:t>
            </a:r>
            <a:r>
              <a:rPr dirty="0" sz="1800" spc="-10">
                <a:latin typeface="Arial MT"/>
                <a:cs typeface="Arial MT"/>
              </a:rPr>
              <a:t> discipline. </a:t>
            </a:r>
            <a:r>
              <a:rPr dirty="0" sz="1800">
                <a:latin typeface="Arial MT"/>
                <a:cs typeface="Arial MT"/>
              </a:rPr>
              <a:t>Traditionally,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attendance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is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recorded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manually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using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paper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registers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or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basic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digital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systems.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However,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these</a:t>
            </a:r>
            <a:r>
              <a:rPr dirty="0" sz="1800" spc="-10">
                <a:latin typeface="Arial MT"/>
                <a:cs typeface="Arial MT"/>
              </a:rPr>
              <a:t> methods </a:t>
            </a:r>
            <a:r>
              <a:rPr dirty="0" sz="1800">
                <a:latin typeface="Arial MT"/>
                <a:cs typeface="Arial MT"/>
              </a:rPr>
              <a:t>are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time-consuming,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inefficient,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prone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errors.</a:t>
            </a:r>
            <a:endParaRPr sz="1800">
              <a:latin typeface="Arial MT"/>
              <a:cs typeface="Arial MT"/>
            </a:endParaRPr>
          </a:p>
          <a:p>
            <a:pPr marL="12700" marR="156845">
              <a:lnSpc>
                <a:spcPct val="166700"/>
              </a:lnSpc>
            </a:pPr>
            <a:r>
              <a:rPr dirty="0" sz="1800">
                <a:latin typeface="Arial MT"/>
                <a:cs typeface="Arial MT"/>
              </a:rPr>
              <a:t>With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rapid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development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Artificial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Intelligence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(AI)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Computer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Vision,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automated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systems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have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become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more </a:t>
            </a:r>
            <a:r>
              <a:rPr dirty="0" sz="1800">
                <a:latin typeface="Arial MT"/>
                <a:cs typeface="Arial MT"/>
              </a:rPr>
              <a:t>reliable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practical.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Face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recognition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technology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enables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systems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identify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individuals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uniquely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without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physical</a:t>
            </a:r>
            <a:r>
              <a:rPr dirty="0" sz="1800" spc="-10">
                <a:latin typeface="Arial MT"/>
                <a:cs typeface="Arial MT"/>
              </a:rPr>
              <a:t> contact, </a:t>
            </a:r>
            <a:r>
              <a:rPr dirty="0" sz="1800">
                <a:latin typeface="Arial MT"/>
                <a:cs typeface="Arial MT"/>
              </a:rPr>
              <a:t>making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attendance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process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faster,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more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accurate,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10">
                <a:latin typeface="Arial MT"/>
                <a:cs typeface="Arial MT"/>
              </a:rPr>
              <a:t> secure.</a:t>
            </a: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ct val="166700"/>
              </a:lnSpc>
            </a:pP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AI-</a:t>
            </a:r>
            <a:r>
              <a:rPr dirty="0" sz="1800">
                <a:latin typeface="Arial MT"/>
                <a:cs typeface="Arial MT"/>
              </a:rPr>
              <a:t>Based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Smart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Attendance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System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is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developed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as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Java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full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stack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web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application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automate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10">
                <a:latin typeface="Arial MT"/>
                <a:cs typeface="Arial MT"/>
              </a:rPr>
              <a:t> attendance </a:t>
            </a:r>
            <a:r>
              <a:rPr dirty="0" sz="1800">
                <a:latin typeface="Arial MT"/>
                <a:cs typeface="Arial MT"/>
              </a:rPr>
              <a:t>process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using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face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recognition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technology.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system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is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built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using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Java,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Spring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Boot,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OpenCV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for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backend</a:t>
            </a:r>
            <a:r>
              <a:rPr dirty="0" sz="1800" spc="-10">
                <a:latin typeface="Arial MT"/>
                <a:cs typeface="Arial MT"/>
              </a:rPr>
              <a:t> processing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AI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integration.</a:t>
            </a:r>
            <a:endParaRPr sz="1800">
              <a:latin typeface="Arial MT"/>
              <a:cs typeface="Arial MT"/>
            </a:endParaRPr>
          </a:p>
          <a:p>
            <a:pPr marL="12700" marR="30480">
              <a:lnSpc>
                <a:spcPct val="166700"/>
              </a:lnSpc>
            </a:pPr>
            <a:r>
              <a:rPr dirty="0" sz="1800">
                <a:latin typeface="Arial MT"/>
                <a:cs typeface="Arial MT"/>
              </a:rPr>
              <a:t>In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this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system,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camera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captures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live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images,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detects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faces,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recognizes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registered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users.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backend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processes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the </a:t>
            </a:r>
            <a:r>
              <a:rPr dirty="0" sz="1800">
                <a:latin typeface="Arial MT"/>
                <a:cs typeface="Arial MT"/>
              </a:rPr>
              <a:t>data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automatically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marks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attendance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centralized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database.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-16"/>
            <a:ext cx="14630400" cy="8194675"/>
            <a:chOff x="0" y="-16"/>
            <a:chExt cx="14630400" cy="8194675"/>
          </a:xfrm>
        </p:grpSpPr>
        <p:sp>
          <p:nvSpPr>
            <p:cNvPr id="3" name="object 3" descr=""/>
            <p:cNvSpPr/>
            <p:nvPr/>
          </p:nvSpPr>
          <p:spPr>
            <a:xfrm>
              <a:off x="0" y="-16"/>
              <a:ext cx="14630400" cy="8194675"/>
            </a:xfrm>
            <a:custGeom>
              <a:avLst/>
              <a:gdLst/>
              <a:ahLst/>
              <a:cxnLst/>
              <a:rect l="l" t="t" r="r" b="b"/>
              <a:pathLst>
                <a:path w="14630400" h="8194675">
                  <a:moveTo>
                    <a:pt x="14630400" y="0"/>
                  </a:moveTo>
                  <a:lnTo>
                    <a:pt x="0" y="0"/>
                  </a:lnTo>
                  <a:lnTo>
                    <a:pt x="0" y="8194421"/>
                  </a:lnTo>
                  <a:lnTo>
                    <a:pt x="14630400" y="8194421"/>
                  </a:lnTo>
                  <a:lnTo>
                    <a:pt x="14630400" y="0"/>
                  </a:lnTo>
                  <a:close/>
                </a:path>
              </a:pathLst>
            </a:custGeom>
            <a:solidFill>
              <a:srgbClr val="F3F3FF">
                <a:alpha val="7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5331333" y="1355471"/>
              <a:ext cx="4357370" cy="64135"/>
            </a:xfrm>
            <a:custGeom>
              <a:avLst/>
              <a:gdLst/>
              <a:ahLst/>
              <a:cxnLst/>
              <a:rect l="l" t="t" r="r" b="b"/>
              <a:pathLst>
                <a:path w="4357370" h="64134">
                  <a:moveTo>
                    <a:pt x="4357116" y="0"/>
                  </a:moveTo>
                  <a:lnTo>
                    <a:pt x="0" y="0"/>
                  </a:lnTo>
                  <a:lnTo>
                    <a:pt x="0" y="64007"/>
                  </a:lnTo>
                  <a:lnTo>
                    <a:pt x="4357116" y="64007"/>
                  </a:lnTo>
                  <a:lnTo>
                    <a:pt x="4357116" y="0"/>
                  </a:lnTo>
                  <a:close/>
                </a:path>
              </a:pathLst>
            </a:custGeom>
            <a:solidFill>
              <a:srgbClr val="00002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319140" y="669417"/>
            <a:ext cx="440055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95"/>
              <a:t>OFFER</a:t>
            </a:r>
            <a:r>
              <a:rPr dirty="0" spc="-225"/>
              <a:t> </a:t>
            </a:r>
            <a:r>
              <a:rPr dirty="0" spc="-105"/>
              <a:t>LETTER</a:t>
            </a: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22800" y="1390036"/>
            <a:ext cx="5104038" cy="68395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-16"/>
            <a:ext cx="14630400" cy="8194675"/>
            <a:chOff x="0" y="-16"/>
            <a:chExt cx="14630400" cy="8194675"/>
          </a:xfrm>
        </p:grpSpPr>
        <p:sp>
          <p:nvSpPr>
            <p:cNvPr id="3" name="object 3" descr=""/>
            <p:cNvSpPr/>
            <p:nvPr/>
          </p:nvSpPr>
          <p:spPr>
            <a:xfrm>
              <a:off x="0" y="-16"/>
              <a:ext cx="14630400" cy="8194675"/>
            </a:xfrm>
            <a:custGeom>
              <a:avLst/>
              <a:gdLst/>
              <a:ahLst/>
              <a:cxnLst/>
              <a:rect l="l" t="t" r="r" b="b"/>
              <a:pathLst>
                <a:path w="14630400" h="8194675">
                  <a:moveTo>
                    <a:pt x="14630400" y="0"/>
                  </a:moveTo>
                  <a:lnTo>
                    <a:pt x="0" y="0"/>
                  </a:lnTo>
                  <a:lnTo>
                    <a:pt x="0" y="8194421"/>
                  </a:lnTo>
                  <a:lnTo>
                    <a:pt x="14630400" y="8194421"/>
                  </a:lnTo>
                  <a:lnTo>
                    <a:pt x="14630400" y="0"/>
                  </a:lnTo>
                  <a:close/>
                </a:path>
              </a:pathLst>
            </a:custGeom>
            <a:solidFill>
              <a:srgbClr val="F3F3FF">
                <a:alpha val="7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3141345" y="1355471"/>
              <a:ext cx="8724900" cy="64135"/>
            </a:xfrm>
            <a:custGeom>
              <a:avLst/>
              <a:gdLst/>
              <a:ahLst/>
              <a:cxnLst/>
              <a:rect l="l" t="t" r="r" b="b"/>
              <a:pathLst>
                <a:path w="8724900" h="64134">
                  <a:moveTo>
                    <a:pt x="8724900" y="0"/>
                  </a:moveTo>
                  <a:lnTo>
                    <a:pt x="0" y="0"/>
                  </a:lnTo>
                  <a:lnTo>
                    <a:pt x="0" y="64007"/>
                  </a:lnTo>
                  <a:lnTo>
                    <a:pt x="8724900" y="64007"/>
                  </a:lnTo>
                  <a:lnTo>
                    <a:pt x="8724900" y="0"/>
                  </a:lnTo>
                  <a:close/>
                </a:path>
              </a:pathLst>
            </a:custGeom>
            <a:solidFill>
              <a:srgbClr val="00002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03200">
              <a:lnSpc>
                <a:spcPct val="100000"/>
              </a:lnSpc>
              <a:spcBef>
                <a:spcPts val="100"/>
              </a:spcBef>
            </a:pPr>
            <a:r>
              <a:rPr dirty="0"/>
              <a:t>NOC</a:t>
            </a:r>
            <a:r>
              <a:rPr dirty="0" spc="-150"/>
              <a:t> </a:t>
            </a:r>
            <a:r>
              <a:rPr dirty="0"/>
              <a:t>-</a:t>
            </a:r>
            <a:r>
              <a:rPr dirty="0" spc="340"/>
              <a:t> </a:t>
            </a:r>
            <a:r>
              <a:rPr dirty="0"/>
              <a:t>No</a:t>
            </a:r>
            <a:r>
              <a:rPr dirty="0" spc="-135"/>
              <a:t> </a:t>
            </a:r>
            <a:r>
              <a:rPr dirty="0" spc="-95"/>
              <a:t>Objection</a:t>
            </a:r>
            <a:r>
              <a:rPr dirty="0" spc="-185"/>
              <a:t> </a:t>
            </a:r>
            <a:r>
              <a:rPr dirty="0" spc="-10"/>
              <a:t>Certificate</a:t>
            </a: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89500" y="1416229"/>
            <a:ext cx="4873462" cy="68133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-16"/>
            <a:ext cx="14630400" cy="8194675"/>
            <a:chOff x="0" y="-16"/>
            <a:chExt cx="14630400" cy="8194675"/>
          </a:xfrm>
        </p:grpSpPr>
        <p:sp>
          <p:nvSpPr>
            <p:cNvPr id="3" name="object 3" descr=""/>
            <p:cNvSpPr/>
            <p:nvPr/>
          </p:nvSpPr>
          <p:spPr>
            <a:xfrm>
              <a:off x="0" y="-16"/>
              <a:ext cx="14630400" cy="8194675"/>
            </a:xfrm>
            <a:custGeom>
              <a:avLst/>
              <a:gdLst/>
              <a:ahLst/>
              <a:cxnLst/>
              <a:rect l="l" t="t" r="r" b="b"/>
              <a:pathLst>
                <a:path w="14630400" h="8194675">
                  <a:moveTo>
                    <a:pt x="14630400" y="0"/>
                  </a:moveTo>
                  <a:lnTo>
                    <a:pt x="0" y="0"/>
                  </a:lnTo>
                  <a:lnTo>
                    <a:pt x="0" y="8194421"/>
                  </a:lnTo>
                  <a:lnTo>
                    <a:pt x="14630400" y="8194421"/>
                  </a:lnTo>
                  <a:lnTo>
                    <a:pt x="14630400" y="0"/>
                  </a:lnTo>
                  <a:close/>
                </a:path>
              </a:pathLst>
            </a:custGeom>
            <a:solidFill>
              <a:srgbClr val="F3F3FF">
                <a:alpha val="7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3485769" y="1355471"/>
              <a:ext cx="8044180" cy="64135"/>
            </a:xfrm>
            <a:custGeom>
              <a:avLst/>
              <a:gdLst/>
              <a:ahLst/>
              <a:cxnLst/>
              <a:rect l="l" t="t" r="r" b="b"/>
              <a:pathLst>
                <a:path w="8044180" h="64134">
                  <a:moveTo>
                    <a:pt x="8043672" y="0"/>
                  </a:moveTo>
                  <a:lnTo>
                    <a:pt x="0" y="0"/>
                  </a:lnTo>
                  <a:lnTo>
                    <a:pt x="0" y="64007"/>
                  </a:lnTo>
                  <a:lnTo>
                    <a:pt x="8043672" y="64007"/>
                  </a:lnTo>
                  <a:lnTo>
                    <a:pt x="8043672" y="0"/>
                  </a:lnTo>
                  <a:close/>
                </a:path>
              </a:pathLst>
            </a:custGeom>
            <a:solidFill>
              <a:srgbClr val="00002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547370">
              <a:lnSpc>
                <a:spcPct val="100000"/>
              </a:lnSpc>
              <a:spcBef>
                <a:spcPts val="100"/>
              </a:spcBef>
            </a:pPr>
            <a:r>
              <a:rPr dirty="0" spc="-45"/>
              <a:t>COMPLETION</a:t>
            </a:r>
            <a:r>
              <a:rPr dirty="0" spc="-285"/>
              <a:t> </a:t>
            </a:r>
            <a:r>
              <a:rPr dirty="0" spc="-85"/>
              <a:t>CERTIFICATE</a:t>
            </a: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1429234"/>
            <a:ext cx="5527508" cy="68003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330065" y="1507871"/>
            <a:ext cx="6658609" cy="64135"/>
          </a:xfrm>
          <a:custGeom>
            <a:avLst/>
            <a:gdLst/>
            <a:ahLst/>
            <a:cxnLst/>
            <a:rect l="l" t="t" r="r" b="b"/>
            <a:pathLst>
              <a:path w="6658609" h="64134">
                <a:moveTo>
                  <a:pt x="6658356" y="0"/>
                </a:moveTo>
                <a:lnTo>
                  <a:pt x="0" y="0"/>
                </a:lnTo>
                <a:lnTo>
                  <a:pt x="0" y="64007"/>
                </a:lnTo>
                <a:lnTo>
                  <a:pt x="6658356" y="64007"/>
                </a:lnTo>
                <a:lnTo>
                  <a:pt x="6658356" y="0"/>
                </a:lnTo>
                <a:close/>
              </a:path>
            </a:pathLst>
          </a:custGeom>
          <a:solidFill>
            <a:srgbClr val="0000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0" rIns="0" bIns="0" rtlCol="0" vert="horz">
            <a:spAutoFit/>
          </a:bodyPr>
          <a:lstStyle/>
          <a:p>
            <a:pPr marL="1391920">
              <a:lnSpc>
                <a:spcPct val="100000"/>
              </a:lnSpc>
              <a:spcBef>
                <a:spcPts val="100"/>
              </a:spcBef>
            </a:pPr>
            <a:r>
              <a:rPr dirty="0"/>
              <a:t>FLOW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35"/>
              <a:t> </a:t>
            </a:r>
            <a:r>
              <a:rPr dirty="0" spc="-10"/>
              <a:t>INTERNSHIP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866900" y="1663700"/>
            <a:ext cx="11763375" cy="5054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Arial MT"/>
                <a:cs typeface="Arial MT"/>
              </a:rPr>
              <a:t>FLOW</a:t>
            </a:r>
            <a:r>
              <a:rPr dirty="0" sz="3000" spc="-3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OF</a:t>
            </a:r>
            <a:r>
              <a:rPr dirty="0" sz="3000" spc="-3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INTERNSHIP</a:t>
            </a:r>
            <a:r>
              <a:rPr dirty="0" sz="3000" spc="-3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(Java</a:t>
            </a:r>
            <a:r>
              <a:rPr dirty="0" sz="3000" spc="-30">
                <a:latin typeface="Arial MT"/>
                <a:cs typeface="Arial MT"/>
              </a:rPr>
              <a:t> </a:t>
            </a:r>
            <a:r>
              <a:rPr dirty="0" sz="3000" spc="-10">
                <a:latin typeface="Arial MT"/>
                <a:cs typeface="Arial MT"/>
              </a:rPr>
              <a:t>Developer)</a:t>
            </a:r>
            <a:endParaRPr sz="3000">
              <a:latin typeface="Arial MT"/>
              <a:cs typeface="Arial MT"/>
            </a:endParaRPr>
          </a:p>
          <a:p>
            <a:pPr marL="436245" indent="-423545">
              <a:lnSpc>
                <a:spcPts val="3300"/>
              </a:lnSpc>
              <a:spcBef>
                <a:spcPts val="2400"/>
              </a:spcBef>
              <a:buAutoNum type="arabicPeriod"/>
              <a:tabLst>
                <a:tab pos="436245" algn="l"/>
              </a:tabLst>
            </a:pPr>
            <a:r>
              <a:rPr dirty="0" sz="3000">
                <a:latin typeface="Arial MT"/>
                <a:cs typeface="Arial MT"/>
              </a:rPr>
              <a:t>Introduction &amp; </a:t>
            </a:r>
            <a:r>
              <a:rPr dirty="0" sz="3000" spc="-10">
                <a:latin typeface="Arial MT"/>
                <a:cs typeface="Arial MT"/>
              </a:rPr>
              <a:t>Onboarding</a:t>
            </a:r>
            <a:endParaRPr sz="3000">
              <a:latin typeface="Arial MT"/>
              <a:cs typeface="Arial MT"/>
            </a:endParaRPr>
          </a:p>
          <a:p>
            <a:pPr lvl="1" marL="252095" indent="-239395">
              <a:lnSpc>
                <a:spcPts val="3000"/>
              </a:lnSpc>
              <a:buChar char="•"/>
              <a:tabLst>
                <a:tab pos="252095" algn="l"/>
              </a:tabLst>
            </a:pPr>
            <a:r>
              <a:rPr dirty="0" sz="3000">
                <a:latin typeface="Arial MT"/>
                <a:cs typeface="Arial MT"/>
              </a:rPr>
              <a:t>Introduction to company workflow and development </a:t>
            </a:r>
            <a:r>
              <a:rPr dirty="0" sz="3000" spc="-10">
                <a:latin typeface="Arial MT"/>
                <a:cs typeface="Arial MT"/>
              </a:rPr>
              <a:t>process</a:t>
            </a:r>
            <a:endParaRPr sz="3000">
              <a:latin typeface="Arial MT"/>
              <a:cs typeface="Arial MT"/>
            </a:endParaRPr>
          </a:p>
          <a:p>
            <a:pPr lvl="1" marL="252095" indent="-239395">
              <a:lnSpc>
                <a:spcPts val="3000"/>
              </a:lnSpc>
              <a:buChar char="•"/>
              <a:tabLst>
                <a:tab pos="252095" algn="l"/>
              </a:tabLst>
            </a:pPr>
            <a:r>
              <a:rPr dirty="0" sz="3000">
                <a:latin typeface="Arial MT"/>
                <a:cs typeface="Arial MT"/>
              </a:rPr>
              <a:t>Understanding role as a Java </a:t>
            </a:r>
            <a:r>
              <a:rPr dirty="0" sz="3000" spc="-10">
                <a:latin typeface="Arial MT"/>
                <a:cs typeface="Arial MT"/>
              </a:rPr>
              <a:t>Developer</a:t>
            </a:r>
            <a:endParaRPr sz="3000">
              <a:latin typeface="Arial MT"/>
              <a:cs typeface="Arial MT"/>
            </a:endParaRPr>
          </a:p>
          <a:p>
            <a:pPr lvl="1" marL="252095" indent="-239395">
              <a:lnSpc>
                <a:spcPts val="3300"/>
              </a:lnSpc>
              <a:buChar char="•"/>
              <a:tabLst>
                <a:tab pos="252095" algn="l"/>
              </a:tabLst>
            </a:pPr>
            <a:r>
              <a:rPr dirty="0" sz="3000">
                <a:latin typeface="Arial MT"/>
                <a:cs typeface="Arial MT"/>
              </a:rPr>
              <a:t>Familiarization with project structure and team collaboration </a:t>
            </a:r>
            <a:r>
              <a:rPr dirty="0" sz="3000" spc="-10">
                <a:latin typeface="Arial MT"/>
                <a:cs typeface="Arial MT"/>
              </a:rPr>
              <a:t>tools</a:t>
            </a:r>
            <a:endParaRPr sz="3000">
              <a:latin typeface="Arial MT"/>
              <a:cs typeface="Arial MT"/>
            </a:endParaRPr>
          </a:p>
          <a:p>
            <a:pPr marL="436245" indent="-423545">
              <a:lnSpc>
                <a:spcPts val="3300"/>
              </a:lnSpc>
              <a:spcBef>
                <a:spcPts val="2400"/>
              </a:spcBef>
              <a:buAutoNum type="arabicPeriod" startAt="2"/>
              <a:tabLst>
                <a:tab pos="436245" algn="l"/>
              </a:tabLst>
            </a:pPr>
            <a:r>
              <a:rPr dirty="0" sz="3000">
                <a:latin typeface="Arial MT"/>
                <a:cs typeface="Arial MT"/>
              </a:rPr>
              <a:t>Learning </a:t>
            </a:r>
            <a:r>
              <a:rPr dirty="0" sz="3000" spc="-10">
                <a:latin typeface="Arial MT"/>
                <a:cs typeface="Arial MT"/>
              </a:rPr>
              <a:t>Phase</a:t>
            </a:r>
            <a:endParaRPr sz="3000">
              <a:latin typeface="Arial MT"/>
              <a:cs typeface="Arial MT"/>
            </a:endParaRPr>
          </a:p>
          <a:p>
            <a:pPr lvl="1" marL="252095" indent="-239395">
              <a:lnSpc>
                <a:spcPts val="3000"/>
              </a:lnSpc>
              <a:buChar char="•"/>
              <a:tabLst>
                <a:tab pos="252095" algn="l"/>
              </a:tabLst>
            </a:pPr>
            <a:r>
              <a:rPr dirty="0" sz="3000">
                <a:latin typeface="Arial MT"/>
                <a:cs typeface="Arial MT"/>
              </a:rPr>
              <a:t>Basics</a:t>
            </a:r>
            <a:r>
              <a:rPr dirty="0" sz="3000" spc="-1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of</a:t>
            </a:r>
            <a:r>
              <a:rPr dirty="0" sz="3000" spc="-1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Java</a:t>
            </a:r>
            <a:r>
              <a:rPr dirty="0" sz="3000" spc="-1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Programming</a:t>
            </a:r>
            <a:r>
              <a:rPr dirty="0" sz="3000" spc="-1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(OOP</a:t>
            </a:r>
            <a:r>
              <a:rPr dirty="0" sz="3000" spc="-1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concepts,</a:t>
            </a:r>
            <a:r>
              <a:rPr dirty="0" sz="3000" spc="-1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syntax,</a:t>
            </a:r>
            <a:r>
              <a:rPr dirty="0" sz="3000" spc="-1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core</a:t>
            </a:r>
            <a:r>
              <a:rPr dirty="0" sz="3000" spc="-10">
                <a:latin typeface="Arial MT"/>
                <a:cs typeface="Arial MT"/>
              </a:rPr>
              <a:t> Java)</a:t>
            </a:r>
            <a:endParaRPr sz="3000">
              <a:latin typeface="Arial MT"/>
              <a:cs typeface="Arial MT"/>
            </a:endParaRPr>
          </a:p>
          <a:p>
            <a:pPr lvl="1" marL="252095" indent="-239395">
              <a:lnSpc>
                <a:spcPts val="3000"/>
              </a:lnSpc>
              <a:buChar char="•"/>
              <a:tabLst>
                <a:tab pos="252095" algn="l"/>
              </a:tabLst>
            </a:pPr>
            <a:r>
              <a:rPr dirty="0" sz="3000">
                <a:latin typeface="Arial MT"/>
                <a:cs typeface="Arial MT"/>
              </a:rPr>
              <a:t>Understanding development tools (JDK, IDE like IntelliJ/Eclipse, </a:t>
            </a:r>
            <a:r>
              <a:rPr dirty="0" sz="3000" spc="-20">
                <a:latin typeface="Arial MT"/>
                <a:cs typeface="Arial MT"/>
              </a:rPr>
              <a:t>Git)</a:t>
            </a:r>
            <a:endParaRPr sz="3000">
              <a:latin typeface="Arial MT"/>
              <a:cs typeface="Arial MT"/>
            </a:endParaRPr>
          </a:p>
          <a:p>
            <a:pPr lvl="1" marL="252095" indent="-239395">
              <a:lnSpc>
                <a:spcPts val="3000"/>
              </a:lnSpc>
              <a:buChar char="•"/>
              <a:tabLst>
                <a:tab pos="252095" algn="l"/>
              </a:tabLst>
            </a:pPr>
            <a:r>
              <a:rPr dirty="0" sz="3000">
                <a:latin typeface="Arial MT"/>
                <a:cs typeface="Arial MT"/>
              </a:rPr>
              <a:t>Learning</a:t>
            </a:r>
            <a:r>
              <a:rPr dirty="0" sz="3000" spc="-1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frameworks</a:t>
            </a:r>
            <a:r>
              <a:rPr dirty="0" sz="3000" spc="-1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(e.g.,</a:t>
            </a:r>
            <a:r>
              <a:rPr dirty="0" sz="3000" spc="-1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Spring</a:t>
            </a:r>
            <a:r>
              <a:rPr dirty="0" sz="3000" spc="-1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/</a:t>
            </a:r>
            <a:r>
              <a:rPr dirty="0" sz="3000" spc="-10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Spring</a:t>
            </a:r>
            <a:r>
              <a:rPr dirty="0" sz="3000" spc="-15">
                <a:latin typeface="Arial MT"/>
                <a:cs typeface="Arial MT"/>
              </a:rPr>
              <a:t> </a:t>
            </a:r>
            <a:r>
              <a:rPr dirty="0" sz="3000">
                <a:latin typeface="Arial MT"/>
                <a:cs typeface="Arial MT"/>
              </a:rPr>
              <a:t>Boot</a:t>
            </a:r>
            <a:r>
              <a:rPr dirty="0" sz="3000" spc="-10">
                <a:latin typeface="Arial MT"/>
                <a:cs typeface="Arial MT"/>
              </a:rPr>
              <a:t> basics)</a:t>
            </a:r>
            <a:endParaRPr sz="3000">
              <a:latin typeface="Arial MT"/>
              <a:cs typeface="Arial MT"/>
            </a:endParaRPr>
          </a:p>
          <a:p>
            <a:pPr lvl="1" marL="252095" indent="-239395">
              <a:lnSpc>
                <a:spcPts val="3000"/>
              </a:lnSpc>
              <a:buChar char="•"/>
              <a:tabLst>
                <a:tab pos="252095" algn="l"/>
              </a:tabLst>
            </a:pPr>
            <a:r>
              <a:rPr dirty="0" sz="3000">
                <a:latin typeface="Arial MT"/>
                <a:cs typeface="Arial MT"/>
              </a:rPr>
              <a:t>Understanding code structure, debugging, and best </a:t>
            </a:r>
            <a:r>
              <a:rPr dirty="0" sz="3000" spc="-10">
                <a:latin typeface="Arial MT"/>
                <a:cs typeface="Arial MT"/>
              </a:rPr>
              <a:t>practices</a:t>
            </a:r>
            <a:endParaRPr sz="3000">
              <a:latin typeface="Arial MT"/>
              <a:cs typeface="Arial MT"/>
            </a:endParaRPr>
          </a:p>
          <a:p>
            <a:pPr lvl="1" marL="252095" indent="-239395">
              <a:lnSpc>
                <a:spcPts val="3300"/>
              </a:lnSpc>
              <a:buChar char="•"/>
              <a:tabLst>
                <a:tab pos="252095" algn="l"/>
              </a:tabLst>
            </a:pPr>
            <a:r>
              <a:rPr dirty="0" sz="3000">
                <a:latin typeface="Arial MT"/>
                <a:cs typeface="Arial MT"/>
              </a:rPr>
              <a:t>Developing logical thinking and problem-solving </a:t>
            </a:r>
            <a:r>
              <a:rPr dirty="0" sz="3000" spc="-10">
                <a:latin typeface="Arial MT"/>
                <a:cs typeface="Arial MT"/>
              </a:rPr>
              <a:t>skills</a:t>
            </a:r>
            <a:endParaRPr sz="3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330065" y="1507871"/>
            <a:ext cx="6658609" cy="64135"/>
          </a:xfrm>
          <a:custGeom>
            <a:avLst/>
            <a:gdLst/>
            <a:ahLst/>
            <a:cxnLst/>
            <a:rect l="l" t="t" r="r" b="b"/>
            <a:pathLst>
              <a:path w="6658609" h="64134">
                <a:moveTo>
                  <a:pt x="6658356" y="0"/>
                </a:moveTo>
                <a:lnTo>
                  <a:pt x="0" y="0"/>
                </a:lnTo>
                <a:lnTo>
                  <a:pt x="0" y="64007"/>
                </a:lnTo>
                <a:lnTo>
                  <a:pt x="6658356" y="64007"/>
                </a:lnTo>
                <a:lnTo>
                  <a:pt x="6658356" y="0"/>
                </a:lnTo>
                <a:close/>
              </a:path>
            </a:pathLst>
          </a:custGeom>
          <a:solidFill>
            <a:srgbClr val="0000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317872" y="821817"/>
            <a:ext cx="668591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FLOW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135"/>
              <a:t> </a:t>
            </a:r>
            <a:r>
              <a:rPr dirty="0" spc="-10"/>
              <a:t>INTERNSHIP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714500" y="1511300"/>
            <a:ext cx="11687810" cy="620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4184" indent="-451484">
              <a:lnSpc>
                <a:spcPct val="100000"/>
              </a:lnSpc>
              <a:spcBef>
                <a:spcPts val="100"/>
              </a:spcBef>
              <a:buAutoNum type="arabicPeriod" startAt="3"/>
              <a:tabLst>
                <a:tab pos="464184" algn="l"/>
              </a:tabLst>
            </a:pPr>
            <a:r>
              <a:rPr dirty="0" sz="3200">
                <a:latin typeface="Arial MT"/>
                <a:cs typeface="Arial MT"/>
              </a:rPr>
              <a:t>Development Phase – Project 1 (Java </a:t>
            </a:r>
            <a:r>
              <a:rPr dirty="0" sz="3200" spc="-10">
                <a:latin typeface="Arial MT"/>
                <a:cs typeface="Arial MT"/>
              </a:rPr>
              <a:t>Application)</a:t>
            </a:r>
            <a:endParaRPr sz="3200">
              <a:latin typeface="Arial MT"/>
              <a:cs typeface="Arial MT"/>
            </a:endParaRPr>
          </a:p>
          <a:p>
            <a:pPr lvl="1" marL="267335" indent="-254635">
              <a:lnSpc>
                <a:spcPts val="3520"/>
              </a:lnSpc>
              <a:spcBef>
                <a:spcPts val="2560"/>
              </a:spcBef>
              <a:buChar char="•"/>
              <a:tabLst>
                <a:tab pos="267335" algn="l"/>
              </a:tabLst>
            </a:pPr>
            <a:r>
              <a:rPr dirty="0" sz="3200">
                <a:latin typeface="Arial MT"/>
                <a:cs typeface="Arial MT"/>
              </a:rPr>
              <a:t>Designing application structure (modules, classes, </a:t>
            </a:r>
            <a:r>
              <a:rPr dirty="0" sz="3200" spc="-10">
                <a:latin typeface="Arial MT"/>
                <a:cs typeface="Arial MT"/>
              </a:rPr>
              <a:t>architecture)</a:t>
            </a:r>
            <a:endParaRPr sz="3200">
              <a:latin typeface="Arial MT"/>
              <a:cs typeface="Arial MT"/>
            </a:endParaRPr>
          </a:p>
          <a:p>
            <a:pPr lvl="1" marL="267335" indent="-254635">
              <a:lnSpc>
                <a:spcPts val="3200"/>
              </a:lnSpc>
              <a:buChar char="•"/>
              <a:tabLst>
                <a:tab pos="267335" algn="l"/>
              </a:tabLst>
            </a:pPr>
            <a:r>
              <a:rPr dirty="0" sz="3200">
                <a:latin typeface="Arial MT"/>
                <a:cs typeface="Arial MT"/>
              </a:rPr>
              <a:t>Writing clean and efficient Java </a:t>
            </a:r>
            <a:r>
              <a:rPr dirty="0" sz="3200" spc="-20">
                <a:latin typeface="Arial MT"/>
                <a:cs typeface="Arial MT"/>
              </a:rPr>
              <a:t>code</a:t>
            </a:r>
            <a:endParaRPr sz="3200">
              <a:latin typeface="Arial MT"/>
              <a:cs typeface="Arial MT"/>
            </a:endParaRPr>
          </a:p>
          <a:p>
            <a:pPr lvl="1" marL="267335" indent="-254635">
              <a:lnSpc>
                <a:spcPts val="3200"/>
              </a:lnSpc>
              <a:buChar char="•"/>
              <a:tabLst>
                <a:tab pos="267335" algn="l"/>
              </a:tabLst>
            </a:pPr>
            <a:r>
              <a:rPr dirty="0" sz="3200">
                <a:latin typeface="Arial MT"/>
                <a:cs typeface="Arial MT"/>
              </a:rPr>
              <a:t>Implementing features using Core Java / Spring </a:t>
            </a:r>
            <a:r>
              <a:rPr dirty="0" sz="3200" spc="-20">
                <a:latin typeface="Arial MT"/>
                <a:cs typeface="Arial MT"/>
              </a:rPr>
              <a:t>Boot</a:t>
            </a:r>
            <a:endParaRPr sz="3200">
              <a:latin typeface="Arial MT"/>
              <a:cs typeface="Arial MT"/>
            </a:endParaRPr>
          </a:p>
          <a:p>
            <a:pPr lvl="1" marL="267335" indent="-254635">
              <a:lnSpc>
                <a:spcPts val="3200"/>
              </a:lnSpc>
              <a:buChar char="•"/>
              <a:tabLst>
                <a:tab pos="267335" algn="l"/>
              </a:tabLst>
            </a:pPr>
            <a:r>
              <a:rPr dirty="0" sz="3200">
                <a:latin typeface="Arial MT"/>
                <a:cs typeface="Arial MT"/>
              </a:rPr>
              <a:t>Debugging and fixing </a:t>
            </a:r>
            <a:r>
              <a:rPr dirty="0" sz="3200" spc="-10">
                <a:latin typeface="Arial MT"/>
                <a:cs typeface="Arial MT"/>
              </a:rPr>
              <a:t>errors</a:t>
            </a:r>
            <a:endParaRPr sz="3200">
              <a:latin typeface="Arial MT"/>
              <a:cs typeface="Arial MT"/>
            </a:endParaRPr>
          </a:p>
          <a:p>
            <a:pPr lvl="1" marL="267335" indent="-254635">
              <a:lnSpc>
                <a:spcPts val="3520"/>
              </a:lnSpc>
              <a:buChar char="•"/>
              <a:tabLst>
                <a:tab pos="267335" algn="l"/>
              </a:tabLst>
            </a:pPr>
            <a:r>
              <a:rPr dirty="0" sz="3200">
                <a:latin typeface="Arial MT"/>
                <a:cs typeface="Arial MT"/>
              </a:rPr>
              <a:t>Testing and validation of application </a:t>
            </a:r>
            <a:r>
              <a:rPr dirty="0" sz="3200" spc="-10">
                <a:latin typeface="Arial MT"/>
                <a:cs typeface="Arial MT"/>
              </a:rPr>
              <a:t>functionality</a:t>
            </a:r>
            <a:endParaRPr sz="3200">
              <a:latin typeface="Arial MT"/>
              <a:cs typeface="Arial MT"/>
            </a:endParaRPr>
          </a:p>
          <a:p>
            <a:pPr marL="464184" indent="-451484">
              <a:lnSpc>
                <a:spcPct val="100000"/>
              </a:lnSpc>
              <a:spcBef>
                <a:spcPts val="2560"/>
              </a:spcBef>
              <a:buAutoNum type="arabicPeriod" startAt="4"/>
              <a:tabLst>
                <a:tab pos="464184" algn="l"/>
              </a:tabLst>
            </a:pPr>
            <a:r>
              <a:rPr dirty="0" sz="3200">
                <a:latin typeface="Arial MT"/>
                <a:cs typeface="Arial MT"/>
              </a:rPr>
              <a:t>Practical </a:t>
            </a:r>
            <a:r>
              <a:rPr dirty="0" sz="3200" spc="-20">
                <a:latin typeface="Arial MT"/>
                <a:cs typeface="Arial MT"/>
              </a:rPr>
              <a:t>Work</a:t>
            </a:r>
            <a:endParaRPr sz="3200">
              <a:latin typeface="Arial MT"/>
              <a:cs typeface="Arial MT"/>
            </a:endParaRPr>
          </a:p>
          <a:p>
            <a:pPr lvl="1" marL="267335" indent="-254635">
              <a:lnSpc>
                <a:spcPts val="3520"/>
              </a:lnSpc>
              <a:spcBef>
                <a:spcPts val="2560"/>
              </a:spcBef>
              <a:buChar char="•"/>
              <a:tabLst>
                <a:tab pos="267335" algn="l"/>
              </a:tabLst>
            </a:pPr>
            <a:r>
              <a:rPr dirty="0" sz="3200">
                <a:latin typeface="Arial MT"/>
                <a:cs typeface="Arial MT"/>
              </a:rPr>
              <a:t>Working on real-world projects / </a:t>
            </a:r>
            <a:r>
              <a:rPr dirty="0" sz="3200" spc="-10">
                <a:latin typeface="Arial MT"/>
                <a:cs typeface="Arial MT"/>
              </a:rPr>
              <a:t>applications</a:t>
            </a:r>
            <a:endParaRPr sz="3200">
              <a:latin typeface="Arial MT"/>
              <a:cs typeface="Arial MT"/>
            </a:endParaRPr>
          </a:p>
          <a:p>
            <a:pPr lvl="1" marL="267335" indent="-254635">
              <a:lnSpc>
                <a:spcPts val="3200"/>
              </a:lnSpc>
              <a:buChar char="•"/>
              <a:tabLst>
                <a:tab pos="267335" algn="l"/>
              </a:tabLst>
            </a:pPr>
            <a:r>
              <a:rPr dirty="0" sz="3200">
                <a:latin typeface="Arial MT"/>
                <a:cs typeface="Arial MT"/>
              </a:rPr>
              <a:t>Building backend logic and </a:t>
            </a:r>
            <a:r>
              <a:rPr dirty="0" sz="3200" spc="-20">
                <a:latin typeface="Arial MT"/>
                <a:cs typeface="Arial MT"/>
              </a:rPr>
              <a:t>APIs</a:t>
            </a:r>
            <a:endParaRPr sz="3200">
              <a:latin typeface="Arial MT"/>
              <a:cs typeface="Arial MT"/>
            </a:endParaRPr>
          </a:p>
          <a:p>
            <a:pPr lvl="1" marL="267335" indent="-254635">
              <a:lnSpc>
                <a:spcPts val="3200"/>
              </a:lnSpc>
              <a:buChar char="•"/>
              <a:tabLst>
                <a:tab pos="267335" algn="l"/>
              </a:tabLst>
            </a:pPr>
            <a:r>
              <a:rPr dirty="0" sz="3200">
                <a:latin typeface="Arial MT"/>
                <a:cs typeface="Arial MT"/>
              </a:rPr>
              <a:t>Integrating databases (MySQL / </a:t>
            </a:r>
            <a:r>
              <a:rPr dirty="0" sz="3200" spc="-10">
                <a:latin typeface="Arial MT"/>
                <a:cs typeface="Arial MT"/>
              </a:rPr>
              <a:t>MongoDB)</a:t>
            </a:r>
            <a:endParaRPr sz="3200">
              <a:latin typeface="Arial MT"/>
              <a:cs typeface="Arial MT"/>
            </a:endParaRPr>
          </a:p>
          <a:p>
            <a:pPr lvl="1" marL="267335" indent="-254635">
              <a:lnSpc>
                <a:spcPts val="3200"/>
              </a:lnSpc>
              <a:buChar char="•"/>
              <a:tabLst>
                <a:tab pos="267335" algn="l"/>
              </a:tabLst>
            </a:pPr>
            <a:r>
              <a:rPr dirty="0" sz="3200">
                <a:latin typeface="Arial MT"/>
                <a:cs typeface="Arial MT"/>
              </a:rPr>
              <a:t>Improving code performance and </a:t>
            </a:r>
            <a:r>
              <a:rPr dirty="0" sz="3200" spc="-10">
                <a:latin typeface="Arial MT"/>
                <a:cs typeface="Arial MT"/>
              </a:rPr>
              <a:t>efficiency</a:t>
            </a:r>
            <a:endParaRPr sz="3200">
              <a:latin typeface="Arial MT"/>
              <a:cs typeface="Arial MT"/>
            </a:endParaRPr>
          </a:p>
          <a:p>
            <a:pPr lvl="1" marL="267335" indent="-254635">
              <a:lnSpc>
                <a:spcPts val="3520"/>
              </a:lnSpc>
              <a:buChar char="•"/>
              <a:tabLst>
                <a:tab pos="267335" algn="l"/>
              </a:tabLst>
            </a:pPr>
            <a:r>
              <a:rPr dirty="0" sz="3200">
                <a:latin typeface="Arial MT"/>
                <a:cs typeface="Arial MT"/>
              </a:rPr>
              <a:t>Following best coding practices and version control </a:t>
            </a:r>
            <a:r>
              <a:rPr dirty="0" sz="3200" spc="-10">
                <a:latin typeface="Arial MT"/>
                <a:cs typeface="Arial MT"/>
              </a:rPr>
              <a:t>(Git)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814696" y="1355471"/>
            <a:ext cx="5393690" cy="64135"/>
          </a:xfrm>
          <a:custGeom>
            <a:avLst/>
            <a:gdLst/>
            <a:ahLst/>
            <a:cxnLst/>
            <a:rect l="l" t="t" r="r" b="b"/>
            <a:pathLst>
              <a:path w="5393690" h="64134">
                <a:moveTo>
                  <a:pt x="5393435" y="0"/>
                </a:moveTo>
                <a:lnTo>
                  <a:pt x="0" y="0"/>
                </a:lnTo>
                <a:lnTo>
                  <a:pt x="0" y="64007"/>
                </a:lnTo>
                <a:lnTo>
                  <a:pt x="5393435" y="64007"/>
                </a:lnTo>
                <a:lnTo>
                  <a:pt x="5393435" y="0"/>
                </a:lnTo>
                <a:close/>
              </a:path>
            </a:pathLst>
          </a:custGeom>
          <a:solidFill>
            <a:srgbClr val="0000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02504" y="669417"/>
            <a:ext cx="542417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35"/>
              <a:t>PROJECT</a:t>
            </a:r>
            <a:r>
              <a:rPr dirty="0" spc="-270"/>
              <a:t> </a:t>
            </a:r>
            <a:r>
              <a:rPr dirty="0" spc="-20"/>
              <a:t>DETAILS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927100" y="1333500"/>
            <a:ext cx="13320394" cy="669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730" indent="-36703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79730" algn="l"/>
              </a:tabLst>
            </a:pPr>
            <a:r>
              <a:rPr dirty="0" sz="2600">
                <a:latin typeface="Arial MT"/>
                <a:cs typeface="Arial MT"/>
              </a:rPr>
              <a:t>Java</a:t>
            </a:r>
            <a:r>
              <a:rPr dirty="0" sz="2600" spc="-10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Development</a:t>
            </a:r>
            <a:r>
              <a:rPr dirty="0" sz="2600" spc="-105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Work</a:t>
            </a:r>
            <a:endParaRPr sz="2600">
              <a:latin typeface="Arial MT"/>
              <a:cs typeface="Arial MT"/>
            </a:endParaRPr>
          </a:p>
          <a:p>
            <a:pPr marL="12700" marR="2891790">
              <a:lnSpc>
                <a:spcPts val="2600"/>
              </a:lnSpc>
              <a:spcBef>
                <a:spcPts val="2600"/>
              </a:spcBef>
            </a:pP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project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involved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developing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Java-</a:t>
            </a:r>
            <a:r>
              <a:rPr dirty="0" sz="2600">
                <a:latin typeface="Arial MT"/>
                <a:cs typeface="Arial MT"/>
              </a:rPr>
              <a:t>based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application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with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backend </a:t>
            </a:r>
            <a:r>
              <a:rPr dirty="0" sz="2600">
                <a:latin typeface="Arial MT"/>
                <a:cs typeface="Arial MT"/>
              </a:rPr>
              <a:t>logic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and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system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integration.</a:t>
            </a:r>
            <a:endParaRPr sz="2600">
              <a:latin typeface="Arial MT"/>
              <a:cs typeface="Arial MT"/>
            </a:endParaRPr>
          </a:p>
          <a:p>
            <a:pPr lvl="1" marL="220345" indent="-207645">
              <a:lnSpc>
                <a:spcPts val="2340"/>
              </a:lnSpc>
              <a:buChar char="•"/>
              <a:tabLst>
                <a:tab pos="220345" algn="l"/>
              </a:tabLst>
            </a:pPr>
            <a:r>
              <a:rPr dirty="0" sz="2600">
                <a:latin typeface="Arial MT"/>
                <a:cs typeface="Arial MT"/>
              </a:rPr>
              <a:t>Designed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and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implemented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modules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using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Core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Java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and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OOP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concepts</a:t>
            </a:r>
            <a:endParaRPr sz="2600">
              <a:latin typeface="Arial MT"/>
              <a:cs typeface="Arial MT"/>
            </a:endParaRPr>
          </a:p>
          <a:p>
            <a:pPr lvl="1" marL="220345" indent="-207645">
              <a:lnSpc>
                <a:spcPts val="2600"/>
              </a:lnSpc>
              <a:buChar char="•"/>
              <a:tabLst>
                <a:tab pos="220345" algn="l"/>
              </a:tabLst>
            </a:pPr>
            <a:r>
              <a:rPr dirty="0" sz="2600">
                <a:latin typeface="Arial MT"/>
                <a:cs typeface="Arial MT"/>
              </a:rPr>
              <a:t>Worked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on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backend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development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using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Java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/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Spring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Boot</a:t>
            </a:r>
            <a:endParaRPr sz="2600">
              <a:latin typeface="Arial MT"/>
              <a:cs typeface="Arial MT"/>
            </a:endParaRPr>
          </a:p>
          <a:p>
            <a:pPr lvl="1" marL="220345" indent="-207645">
              <a:lnSpc>
                <a:spcPts val="2600"/>
              </a:lnSpc>
              <a:buChar char="•"/>
              <a:tabLst>
                <a:tab pos="220345" algn="l"/>
              </a:tabLst>
            </a:pPr>
            <a:r>
              <a:rPr dirty="0" sz="2600">
                <a:latin typeface="Arial MT"/>
                <a:cs typeface="Arial MT"/>
              </a:rPr>
              <a:t>Handled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data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processing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and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storage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using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databases</a:t>
            </a:r>
            <a:endParaRPr sz="2600">
              <a:latin typeface="Arial MT"/>
              <a:cs typeface="Arial MT"/>
            </a:endParaRPr>
          </a:p>
          <a:p>
            <a:pPr lvl="1" marL="220345" indent="-207645">
              <a:lnSpc>
                <a:spcPts val="2860"/>
              </a:lnSpc>
              <a:buChar char="•"/>
              <a:tabLst>
                <a:tab pos="220345" algn="l"/>
              </a:tabLst>
            </a:pPr>
            <a:r>
              <a:rPr dirty="0" sz="2600">
                <a:latin typeface="Arial MT"/>
                <a:cs typeface="Arial MT"/>
              </a:rPr>
              <a:t>Debugged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and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optimized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code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for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performance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and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efficiency</a:t>
            </a:r>
            <a:endParaRPr sz="2600">
              <a:latin typeface="Arial MT"/>
              <a:cs typeface="Arial MT"/>
            </a:endParaRPr>
          </a:p>
          <a:p>
            <a:pPr marL="379730" indent="-367030">
              <a:lnSpc>
                <a:spcPct val="100000"/>
              </a:lnSpc>
              <a:spcBef>
                <a:spcPts val="2080"/>
              </a:spcBef>
              <a:buAutoNum type="arabicPeriod" startAt="2"/>
              <a:tabLst>
                <a:tab pos="379730" algn="l"/>
              </a:tabLst>
            </a:pPr>
            <a:r>
              <a:rPr dirty="0" sz="2600">
                <a:latin typeface="Arial MT"/>
                <a:cs typeface="Arial MT"/>
              </a:rPr>
              <a:t>AI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Smart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Attendance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System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(Web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Application)</a:t>
            </a:r>
            <a:endParaRPr sz="2600">
              <a:latin typeface="Arial MT"/>
              <a:cs typeface="Arial MT"/>
            </a:endParaRPr>
          </a:p>
          <a:p>
            <a:pPr marL="12700" marR="3773804">
              <a:lnSpc>
                <a:spcPts val="2600"/>
              </a:lnSpc>
              <a:spcBef>
                <a:spcPts val="2600"/>
              </a:spcBef>
            </a:pPr>
            <a:r>
              <a:rPr dirty="0" sz="2600">
                <a:latin typeface="Arial MT"/>
                <a:cs typeface="Arial MT"/>
              </a:rPr>
              <a:t>The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AI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Smart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Attendance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System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is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web-</a:t>
            </a:r>
            <a:r>
              <a:rPr dirty="0" sz="2600">
                <a:latin typeface="Arial MT"/>
                <a:cs typeface="Arial MT"/>
              </a:rPr>
              <a:t>based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application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that </a:t>
            </a:r>
            <a:r>
              <a:rPr dirty="0" sz="2600">
                <a:latin typeface="Arial MT"/>
                <a:cs typeface="Arial MT"/>
              </a:rPr>
              <a:t>automates</a:t>
            </a:r>
            <a:r>
              <a:rPr dirty="0" sz="2600" spc="-10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attendance</a:t>
            </a:r>
            <a:r>
              <a:rPr dirty="0" sz="2600" spc="-9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using</a:t>
            </a:r>
            <a:r>
              <a:rPr dirty="0" sz="2600" spc="-100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AI-</a:t>
            </a:r>
            <a:r>
              <a:rPr dirty="0" sz="2600">
                <a:latin typeface="Arial MT"/>
                <a:cs typeface="Arial MT"/>
              </a:rPr>
              <a:t>based</a:t>
            </a:r>
            <a:r>
              <a:rPr dirty="0" sz="2600" spc="-9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recognition</a:t>
            </a:r>
            <a:r>
              <a:rPr dirty="0" sz="2600" spc="-9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techniques.</a:t>
            </a:r>
            <a:endParaRPr sz="2600">
              <a:latin typeface="Arial MT"/>
              <a:cs typeface="Arial MT"/>
            </a:endParaRPr>
          </a:p>
          <a:p>
            <a:pPr lvl="1" marL="220345" indent="-207645">
              <a:lnSpc>
                <a:spcPts val="2860"/>
              </a:lnSpc>
              <a:spcBef>
                <a:spcPts val="2080"/>
              </a:spcBef>
              <a:buChar char="•"/>
              <a:tabLst>
                <a:tab pos="220345" algn="l"/>
              </a:tabLst>
            </a:pPr>
            <a:r>
              <a:rPr dirty="0" sz="2600">
                <a:latin typeface="Arial MT"/>
                <a:cs typeface="Arial MT"/>
              </a:rPr>
              <a:t>Developed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backend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using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Java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/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Spring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Boot</a:t>
            </a:r>
            <a:endParaRPr sz="2600">
              <a:latin typeface="Arial MT"/>
              <a:cs typeface="Arial MT"/>
            </a:endParaRPr>
          </a:p>
          <a:p>
            <a:pPr lvl="1" marL="220345" indent="-207645">
              <a:lnSpc>
                <a:spcPts val="2600"/>
              </a:lnSpc>
              <a:buChar char="•"/>
              <a:tabLst>
                <a:tab pos="220345" algn="l"/>
              </a:tabLst>
            </a:pPr>
            <a:r>
              <a:rPr dirty="0" sz="2600">
                <a:latin typeface="Arial MT"/>
                <a:cs typeface="Arial MT"/>
              </a:rPr>
              <a:t>Integrated</a:t>
            </a:r>
            <a:r>
              <a:rPr dirty="0" sz="2600" spc="-85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AI-</a:t>
            </a:r>
            <a:r>
              <a:rPr dirty="0" sz="2600">
                <a:latin typeface="Arial MT"/>
                <a:cs typeface="Arial MT"/>
              </a:rPr>
              <a:t>based</a:t>
            </a:r>
            <a:r>
              <a:rPr dirty="0" sz="2600" spc="-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face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recognition</a:t>
            </a:r>
            <a:r>
              <a:rPr dirty="0" sz="2600" spc="-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for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attendance</a:t>
            </a:r>
            <a:r>
              <a:rPr dirty="0" sz="2600" spc="-8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marking</a:t>
            </a:r>
            <a:endParaRPr sz="2600">
              <a:latin typeface="Arial MT"/>
              <a:cs typeface="Arial MT"/>
            </a:endParaRPr>
          </a:p>
          <a:p>
            <a:pPr lvl="1" marL="220345" indent="-207645">
              <a:lnSpc>
                <a:spcPts val="2600"/>
              </a:lnSpc>
              <a:buChar char="•"/>
              <a:tabLst>
                <a:tab pos="220345" algn="l"/>
              </a:tabLst>
            </a:pPr>
            <a:r>
              <a:rPr dirty="0" sz="2600">
                <a:latin typeface="Arial MT"/>
                <a:cs typeface="Arial MT"/>
              </a:rPr>
              <a:t>Created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APIs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handle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user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input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and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system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processing</a:t>
            </a:r>
            <a:endParaRPr sz="2600">
              <a:latin typeface="Arial MT"/>
              <a:cs typeface="Arial MT"/>
            </a:endParaRPr>
          </a:p>
          <a:p>
            <a:pPr lvl="1" marL="220345" indent="-207645">
              <a:lnSpc>
                <a:spcPts val="2600"/>
              </a:lnSpc>
              <a:buChar char="•"/>
              <a:tabLst>
                <a:tab pos="220345" algn="l"/>
              </a:tabLst>
            </a:pPr>
            <a:r>
              <a:rPr dirty="0" sz="2600">
                <a:latin typeface="Arial MT"/>
                <a:cs typeface="Arial MT"/>
              </a:rPr>
              <a:t>Connected</a:t>
            </a:r>
            <a:r>
              <a:rPr dirty="0" sz="2600" spc="-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application</a:t>
            </a:r>
            <a:r>
              <a:rPr dirty="0" sz="2600" spc="-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with</a:t>
            </a:r>
            <a:r>
              <a:rPr dirty="0" sz="2600" spc="-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database</a:t>
            </a:r>
            <a:r>
              <a:rPr dirty="0" sz="2600" spc="-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to</a:t>
            </a:r>
            <a:r>
              <a:rPr dirty="0" sz="2600" spc="-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store</a:t>
            </a:r>
            <a:r>
              <a:rPr dirty="0" sz="2600" spc="-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attendance</a:t>
            </a:r>
            <a:r>
              <a:rPr dirty="0" sz="2600" spc="-8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records</a:t>
            </a:r>
            <a:endParaRPr sz="2600">
              <a:latin typeface="Arial MT"/>
              <a:cs typeface="Arial MT"/>
            </a:endParaRPr>
          </a:p>
          <a:p>
            <a:pPr lvl="1" marL="220345" indent="-207645">
              <a:lnSpc>
                <a:spcPts val="2600"/>
              </a:lnSpc>
              <a:buChar char="•"/>
              <a:tabLst>
                <a:tab pos="220345" algn="l"/>
              </a:tabLst>
            </a:pPr>
            <a:r>
              <a:rPr dirty="0" sz="2600">
                <a:latin typeface="Arial MT"/>
                <a:cs typeface="Arial MT"/>
              </a:rPr>
              <a:t>Implemented</a:t>
            </a:r>
            <a:r>
              <a:rPr dirty="0" sz="2600" spc="-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features</a:t>
            </a:r>
            <a:r>
              <a:rPr dirty="0" sz="2600" spc="-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like</a:t>
            </a:r>
            <a:r>
              <a:rPr dirty="0" sz="2600" spc="-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student</a:t>
            </a:r>
            <a:r>
              <a:rPr dirty="0" sz="2600" spc="-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registration,</a:t>
            </a:r>
            <a:r>
              <a:rPr dirty="0" sz="2600" spc="-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attendance</a:t>
            </a:r>
            <a:r>
              <a:rPr dirty="0" sz="2600" spc="-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tracking,</a:t>
            </a:r>
            <a:r>
              <a:rPr dirty="0" sz="2600" spc="-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and</a:t>
            </a:r>
            <a:r>
              <a:rPr dirty="0" sz="2600" spc="-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report</a:t>
            </a:r>
            <a:r>
              <a:rPr dirty="0" sz="2600" spc="-8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generation</a:t>
            </a:r>
            <a:endParaRPr sz="2600">
              <a:latin typeface="Arial MT"/>
              <a:cs typeface="Arial MT"/>
            </a:endParaRPr>
          </a:p>
          <a:p>
            <a:pPr lvl="1" marL="220345" indent="-207645">
              <a:lnSpc>
                <a:spcPts val="2860"/>
              </a:lnSpc>
              <a:buChar char="•"/>
              <a:tabLst>
                <a:tab pos="220345" algn="l"/>
              </a:tabLst>
            </a:pPr>
            <a:r>
              <a:rPr dirty="0" sz="2600">
                <a:latin typeface="Arial MT"/>
                <a:cs typeface="Arial MT"/>
              </a:rPr>
              <a:t>Ensured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accuracy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and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reduced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manual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effort</a:t>
            </a:r>
            <a:r>
              <a:rPr dirty="0" sz="2600" spc="-7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attendance</a:t>
            </a:r>
            <a:r>
              <a:rPr dirty="0" sz="2600" spc="-8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management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F3F3FF">
              <a:alpha val="749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2950845" y="1507871"/>
            <a:ext cx="9398635" cy="64135"/>
          </a:xfrm>
          <a:custGeom>
            <a:avLst/>
            <a:gdLst/>
            <a:ahLst/>
            <a:cxnLst/>
            <a:rect l="l" t="t" r="r" b="b"/>
            <a:pathLst>
              <a:path w="9398635" h="64134">
                <a:moveTo>
                  <a:pt x="9398508" y="0"/>
                </a:moveTo>
                <a:lnTo>
                  <a:pt x="0" y="0"/>
                </a:lnTo>
                <a:lnTo>
                  <a:pt x="0" y="64007"/>
                </a:lnTo>
                <a:lnTo>
                  <a:pt x="9398508" y="64007"/>
                </a:lnTo>
                <a:lnTo>
                  <a:pt x="9398508" y="0"/>
                </a:lnTo>
                <a:close/>
              </a:path>
            </a:pathLst>
          </a:custGeom>
          <a:solidFill>
            <a:srgbClr val="0000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5"/>
              <a:t>IMPLEMENTATION</a:t>
            </a:r>
            <a:r>
              <a:rPr dirty="0" spc="-204"/>
              <a:t> </a:t>
            </a:r>
            <a:r>
              <a:rPr dirty="0" spc="-10"/>
              <a:t>SNAPSHOTS</a:t>
            </a:r>
          </a:p>
        </p:txBody>
      </p:sp>
      <p:grpSp>
        <p:nvGrpSpPr>
          <p:cNvPr id="5" name="object 5" descr=""/>
          <p:cNvGrpSpPr/>
          <p:nvPr/>
        </p:nvGrpSpPr>
        <p:grpSpPr>
          <a:xfrm>
            <a:off x="863600" y="1611652"/>
            <a:ext cx="12490450" cy="3214370"/>
            <a:chOff x="863600" y="1611652"/>
            <a:chExt cx="12490450" cy="3214370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3600" y="1611652"/>
              <a:ext cx="5124427" cy="3214347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80400" y="1647455"/>
              <a:ext cx="5073086" cy="3140444"/>
            </a:xfrm>
            <a:prstGeom prst="rect">
              <a:avLst/>
            </a:prstGeom>
          </p:spPr>
        </p:pic>
      </p:grp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1700" y="4995230"/>
            <a:ext cx="5117067" cy="319626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94700" y="5004935"/>
            <a:ext cx="4987108" cy="31357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546985">
              <a:lnSpc>
                <a:spcPct val="100000"/>
              </a:lnSpc>
              <a:spcBef>
                <a:spcPts val="100"/>
              </a:spcBef>
            </a:pPr>
            <a:r>
              <a:rPr dirty="0" spc="-35"/>
              <a:t>CONCLUSION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5485257" y="1355471"/>
            <a:ext cx="4051300" cy="64135"/>
          </a:xfrm>
          <a:custGeom>
            <a:avLst/>
            <a:gdLst/>
            <a:ahLst/>
            <a:cxnLst/>
            <a:rect l="l" t="t" r="r" b="b"/>
            <a:pathLst>
              <a:path w="4051300" h="64134">
                <a:moveTo>
                  <a:pt x="4050791" y="0"/>
                </a:moveTo>
                <a:lnTo>
                  <a:pt x="0" y="0"/>
                </a:lnTo>
                <a:lnTo>
                  <a:pt x="0" y="64007"/>
                </a:lnTo>
                <a:lnTo>
                  <a:pt x="4050791" y="64007"/>
                </a:lnTo>
                <a:lnTo>
                  <a:pt x="4050791" y="0"/>
                </a:lnTo>
                <a:close/>
              </a:path>
            </a:pathLst>
          </a:custGeom>
          <a:solidFill>
            <a:srgbClr val="0000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 successful completion of this internship marks an important milestone in </a:t>
            </a:r>
            <a:r>
              <a:rPr dirty="0" spc="-25"/>
              <a:t>my</a:t>
            </a:r>
          </a:p>
          <a:p>
            <a:pPr marL="12700" marR="1173480">
              <a:lnSpc>
                <a:spcPct val="166700"/>
              </a:lnSpc>
            </a:pPr>
            <a:r>
              <a:rPr dirty="0"/>
              <a:t>academic journey. This internship provided valuable exposure to Java full </a:t>
            </a:r>
            <a:r>
              <a:rPr dirty="0" spc="-10"/>
              <a:t>stack </a:t>
            </a:r>
            <a:r>
              <a:rPr dirty="0"/>
              <a:t>development and real-world application </a:t>
            </a:r>
            <a:r>
              <a:rPr dirty="0" spc="-10"/>
              <a:t>building.</a:t>
            </a:r>
          </a:p>
          <a:p>
            <a:pPr marL="12700" marR="5080">
              <a:lnSpc>
                <a:spcPct val="166700"/>
              </a:lnSpc>
            </a:pPr>
            <a:r>
              <a:rPr dirty="0"/>
              <a:t>During the internship at Agile Technologies, I worked on backend development, </a:t>
            </a:r>
            <a:r>
              <a:rPr dirty="0" spc="-25"/>
              <a:t>web </a:t>
            </a:r>
            <a:r>
              <a:rPr dirty="0"/>
              <a:t>application design, and project implementation tasks. I gained hands-on experience </a:t>
            </a:r>
            <a:r>
              <a:rPr dirty="0" spc="-25"/>
              <a:t>in </a:t>
            </a:r>
            <a:r>
              <a:rPr dirty="0"/>
              <a:t>Java</a:t>
            </a:r>
            <a:r>
              <a:rPr dirty="0" spc="-5"/>
              <a:t> </a:t>
            </a:r>
            <a:r>
              <a:rPr dirty="0"/>
              <a:t>programming,</a:t>
            </a:r>
            <a:r>
              <a:rPr dirty="0" spc="-5"/>
              <a:t> </a:t>
            </a:r>
            <a:r>
              <a:rPr dirty="0"/>
              <a:t>Spring</a:t>
            </a:r>
            <a:r>
              <a:rPr dirty="0" spc="-5"/>
              <a:t> </a:t>
            </a:r>
            <a:r>
              <a:rPr dirty="0"/>
              <a:t>Boot</a:t>
            </a:r>
            <a:r>
              <a:rPr dirty="0" spc="-5"/>
              <a:t> </a:t>
            </a:r>
            <a:r>
              <a:rPr dirty="0"/>
              <a:t>framework,</a:t>
            </a:r>
            <a:r>
              <a:rPr dirty="0" spc="-5"/>
              <a:t> </a:t>
            </a:r>
            <a:r>
              <a:rPr dirty="0"/>
              <a:t>database integration,</a:t>
            </a:r>
            <a:r>
              <a:rPr dirty="0" spc="-5"/>
              <a:t> </a:t>
            </a:r>
            <a:r>
              <a:rPr dirty="0"/>
              <a:t>and</a:t>
            </a:r>
            <a:r>
              <a:rPr dirty="0" spc="-5"/>
              <a:t> </a:t>
            </a:r>
            <a:r>
              <a:rPr dirty="0"/>
              <a:t>API</a:t>
            </a:r>
            <a:r>
              <a:rPr dirty="0" spc="-5"/>
              <a:t> </a:t>
            </a:r>
            <a:r>
              <a:rPr dirty="0" spc="-10"/>
              <a:t>development. </a:t>
            </a:r>
            <a:r>
              <a:rPr dirty="0"/>
              <a:t>This</a:t>
            </a:r>
            <a:r>
              <a:rPr dirty="0" spc="-10"/>
              <a:t> </a:t>
            </a:r>
            <a:r>
              <a:rPr dirty="0"/>
              <a:t>internship</a:t>
            </a:r>
            <a:r>
              <a:rPr dirty="0" spc="-5"/>
              <a:t> </a:t>
            </a:r>
            <a:r>
              <a:rPr dirty="0"/>
              <a:t>improved</a:t>
            </a:r>
            <a:r>
              <a:rPr dirty="0" spc="-5"/>
              <a:t> </a:t>
            </a:r>
            <a:r>
              <a:rPr dirty="0"/>
              <a:t>my</a:t>
            </a:r>
            <a:r>
              <a:rPr dirty="0" spc="-5"/>
              <a:t> </a:t>
            </a:r>
            <a:r>
              <a:rPr dirty="0"/>
              <a:t>problem-solving</a:t>
            </a:r>
            <a:r>
              <a:rPr dirty="0" spc="-10"/>
              <a:t> </a:t>
            </a:r>
            <a:r>
              <a:rPr dirty="0"/>
              <a:t>skills,</a:t>
            </a:r>
            <a:r>
              <a:rPr dirty="0" spc="-5"/>
              <a:t> </a:t>
            </a:r>
            <a:r>
              <a:rPr dirty="0"/>
              <a:t>coding</a:t>
            </a:r>
            <a:r>
              <a:rPr dirty="0" spc="-5"/>
              <a:t> </a:t>
            </a:r>
            <a:r>
              <a:rPr dirty="0"/>
              <a:t>efficiency,</a:t>
            </a:r>
            <a:r>
              <a:rPr dirty="0" spc="-5"/>
              <a:t> </a:t>
            </a:r>
            <a:r>
              <a:rPr dirty="0"/>
              <a:t>and</a:t>
            </a:r>
            <a:r>
              <a:rPr dirty="0" spc="-10"/>
              <a:t> understanding </a:t>
            </a:r>
            <a:r>
              <a:rPr dirty="0"/>
              <a:t>of real-world software development processes. I also learned how to build </a:t>
            </a:r>
            <a:r>
              <a:rPr dirty="0" spc="-10"/>
              <a:t>scalable </a:t>
            </a:r>
            <a:r>
              <a:rPr dirty="0"/>
              <a:t>applications and follow best coding </a:t>
            </a:r>
            <a:r>
              <a:rPr dirty="0" spc="-10"/>
              <a:t>practices.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F3F3FF">
              <a:alpha val="749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5043296" y="4398009"/>
            <a:ext cx="4529455" cy="79375"/>
          </a:xfrm>
          <a:custGeom>
            <a:avLst/>
            <a:gdLst/>
            <a:ahLst/>
            <a:cxnLst/>
            <a:rect l="l" t="t" r="r" b="b"/>
            <a:pathLst>
              <a:path w="4529455" h="79375">
                <a:moveTo>
                  <a:pt x="4529328" y="0"/>
                </a:moveTo>
                <a:lnTo>
                  <a:pt x="0" y="0"/>
                </a:lnTo>
                <a:lnTo>
                  <a:pt x="0" y="79248"/>
                </a:lnTo>
                <a:lnTo>
                  <a:pt x="4529328" y="79248"/>
                </a:lnTo>
                <a:lnTo>
                  <a:pt x="4529328" y="0"/>
                </a:lnTo>
                <a:close/>
              </a:path>
            </a:pathLst>
          </a:custGeom>
          <a:solidFill>
            <a:srgbClr val="0000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031104" y="3543427"/>
            <a:ext cx="4558665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/>
              <a:t>THANK</a:t>
            </a:r>
            <a:r>
              <a:rPr dirty="0" sz="6000" spc="-140"/>
              <a:t> </a:t>
            </a:r>
            <a:r>
              <a:rPr dirty="0" sz="6000" spc="-25"/>
              <a:t>YOU</a:t>
            </a:r>
            <a:endParaRPr sz="6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2026-04-23T04:31:04Z</dcterms:created>
  <dcterms:modified xsi:type="dcterms:W3CDTF">2026-04-23T04:31:04Z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2025-03-18T00:00:00Z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2026-04-23T00:00:00Z</vt:filetime>
  </property>
  <property fmtid="{D5CDD505-2E9C-101B-9397-08002B2CF9AE}" pid="5" name="Producer">
    <vt:lpwstr>3.0.32 (5.1.20) </vt:lpwstr>
  </property>
</Properties>
</file>